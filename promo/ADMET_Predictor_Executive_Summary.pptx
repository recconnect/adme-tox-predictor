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7" d="100"/>
          <a:sy n="107" d="100"/>
        </p:scale>
        <p:origin x="714" y="7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5400" b="1">
                <a:solidFill>
                  <a:srgbClr val="FFFFFF"/>
                </a:solidFill>
              </a:defRPr>
            </a:pPr>
            <a:r>
              <a:t>ADME/Tox Predictor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0">
                <a:solidFill>
                  <a:srgbClr val="7F8C8D"/>
                </a:solidFill>
              </a:defRPr>
            </a:pPr>
            <a:r>
              <a:t>AI-скрининг ADME-свойств и токсичности на ранних стадиях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576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3498DB"/>
                </a:solidFill>
              </a:defRPr>
            </a:pPr>
            <a:r>
              <a:t>Презентация для инвесторов  |  Июль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27432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7F8C8D"/>
                </a:solidFill>
              </a:defRPr>
            </a:pPr>
            <a:r>
              <a:t>  MVP готов  •  3 ADME/Tox свойства  •  Метрики превышают цели</a:t>
            </a:r>
          </a:p>
          <a:p>
            <a:pPr>
              <a:spcAft>
                <a:spcPts val="600"/>
              </a:spcAft>
              <a:defRPr sz="1800">
                <a:solidFill>
                  <a:srgbClr val="7F8C8D"/>
                </a:solidFill>
              </a:defRPr>
            </a:pPr>
            <a:r>
              <a:t>  Streamlit UI  •  Валидация на известных препаратах  •  Данные Harvard Dataverse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Проблема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3389" y="2549563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rPr dirty="0"/>
              <a:t>90% </a:t>
            </a:r>
            <a:r>
              <a:rPr dirty="0" err="1"/>
              <a:t>кандидатов</a:t>
            </a:r>
            <a:r>
              <a:rPr dirty="0"/>
              <a:t> </a:t>
            </a:r>
            <a:r>
              <a:rPr dirty="0" err="1"/>
              <a:t>проваливаются</a:t>
            </a:r>
            <a:r>
              <a:rPr dirty="0"/>
              <a:t> в </a:t>
            </a:r>
            <a:r>
              <a:rPr dirty="0" err="1"/>
              <a:t>клинике</a:t>
            </a:r>
            <a:r>
              <a:rPr dirty="0"/>
              <a:t> </a:t>
            </a:r>
            <a:r>
              <a:rPr dirty="0" err="1"/>
              <a:t>из-за</a:t>
            </a:r>
            <a:r>
              <a:rPr dirty="0"/>
              <a:t> ADME/Tox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81083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rPr dirty="0"/>
              <a:t>  </a:t>
            </a:r>
            <a:r>
              <a:rPr dirty="0" err="1"/>
              <a:t>Стоимость</a:t>
            </a:r>
            <a:r>
              <a:rPr dirty="0"/>
              <a:t> </a:t>
            </a:r>
            <a:r>
              <a:rPr dirty="0" err="1"/>
              <a:t>разработки</a:t>
            </a:r>
            <a:r>
              <a:rPr dirty="0"/>
              <a:t> </a:t>
            </a:r>
            <a:r>
              <a:rPr dirty="0" err="1"/>
              <a:t>препарата</a:t>
            </a:r>
            <a:r>
              <a:rPr dirty="0"/>
              <a:t>: $2.23 </a:t>
            </a:r>
            <a:r>
              <a:rPr dirty="0" err="1"/>
              <a:t>млрд</a:t>
            </a:r>
            <a:endParaRPr dirty="0"/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rPr dirty="0"/>
              <a:t>  60% </a:t>
            </a:r>
            <a:r>
              <a:rPr dirty="0" err="1"/>
              <a:t>бюджета</a:t>
            </a:r>
            <a:r>
              <a:rPr dirty="0"/>
              <a:t> </a:t>
            </a:r>
            <a:r>
              <a:rPr dirty="0" err="1"/>
              <a:t>уходит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lead optimization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rPr dirty="0"/>
              <a:t>  </a:t>
            </a:r>
            <a:r>
              <a:rPr dirty="0" err="1"/>
              <a:t>Eroom's</a:t>
            </a:r>
            <a:r>
              <a:rPr dirty="0"/>
              <a:t> Law: </a:t>
            </a:r>
            <a:r>
              <a:rPr dirty="0" err="1"/>
              <a:t>эффективность</a:t>
            </a:r>
            <a:r>
              <a:rPr dirty="0"/>
              <a:t> R&amp;D </a:t>
            </a:r>
            <a:r>
              <a:rPr dirty="0" err="1"/>
              <a:t>падает</a:t>
            </a:r>
            <a:r>
              <a:rPr dirty="0"/>
              <a:t> </a:t>
            </a:r>
            <a:r>
              <a:rPr dirty="0" err="1"/>
              <a:t>вдвое</a:t>
            </a:r>
            <a:r>
              <a:rPr dirty="0"/>
              <a:t> </a:t>
            </a:r>
            <a:r>
              <a:rPr dirty="0" err="1"/>
              <a:t>каждые</a:t>
            </a:r>
            <a:r>
              <a:rPr dirty="0"/>
              <a:t> 9 </a:t>
            </a:r>
            <a:r>
              <a:rPr dirty="0" err="1"/>
              <a:t>лет</a:t>
            </a:r>
            <a:endParaRPr dirty="0"/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rPr dirty="0"/>
              <a:t>  </a:t>
            </a:r>
            <a:r>
              <a:rPr dirty="0" err="1"/>
              <a:t>Скрининг</a:t>
            </a:r>
            <a:r>
              <a:rPr dirty="0"/>
              <a:t> </a:t>
            </a:r>
            <a:r>
              <a:rPr dirty="0" err="1"/>
              <a:t>требует</a:t>
            </a:r>
            <a:r>
              <a:rPr dirty="0"/>
              <a:t> </a:t>
            </a:r>
            <a:r>
              <a:rPr dirty="0" err="1"/>
              <a:t>синтеза</a:t>
            </a:r>
            <a:r>
              <a:rPr dirty="0"/>
              <a:t> </a:t>
            </a:r>
            <a:r>
              <a:rPr dirty="0" err="1"/>
              <a:t>тысяч</a:t>
            </a:r>
            <a:r>
              <a:rPr dirty="0"/>
              <a:t> </a:t>
            </a:r>
            <a:r>
              <a:rPr dirty="0" err="1"/>
              <a:t>молекул</a:t>
            </a:r>
            <a:endParaRPr dirty="0"/>
          </a:p>
        </p:txBody>
      </p:sp>
      <p:pic>
        <p:nvPicPr>
          <p:cNvPr id="6" name="Picture 5" descr="eroms_l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486400" cy="32004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943600" y="4846320"/>
            <a:ext cx="548640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943600" y="5029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</a:defRPr>
            </a:pPr>
            <a:r>
              <a:t>Решение: AI-модель предсказывает свойства до синтеза — &lt;1 сек на молекулу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Метрики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Три модели LightGBM — все превышают целевые показатели</a:t>
            </a:r>
          </a:p>
        </p:txBody>
      </p:sp>
      <p:pic>
        <p:nvPicPr>
          <p:cNvPr id="5" name="Picture 4" descr="metrics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7772400" cy="32004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457200" y="4846320"/>
            <a:ext cx="11247120" cy="1645920"/>
          </a:xfrm>
          <a:prstGeom prst="rect">
            <a:avLst/>
          </a:prstGeom>
          <a:solidFill>
            <a:srgbClr val="222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93776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Свойство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80" y="4937760"/>
            <a:ext cx="1828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Датасет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49377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Размер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93776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Модель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Цель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Достигнуто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49377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3498DB"/>
                </a:solidFill>
              </a:defRPr>
            </a:pPr>
            <a:r>
              <a:t>Статус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44068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Растворимость (logS)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544068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AqSolDB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544068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9 982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52160" y="544068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регр.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R² &gt; 0.6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354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R² = 0.826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544068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80644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Caco-2 проницаемость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580644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Wang et 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54880" y="580644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910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52160" y="580644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клас.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638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Acc &gt; 75%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Acc = 83.0%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07040" y="580644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172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hERG токсичность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926080" y="6172200"/>
            <a:ext cx="1828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TDC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61722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655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52160" y="617220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LightGBM клас.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638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AUC &gt; 0.7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2354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ECF0F1"/>
                </a:solidFill>
              </a:defRPr>
            </a:pPr>
            <a:r>
              <a:t>AUC = 0.873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607040" y="617220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ECC71"/>
                </a:solidFill>
              </a:defRPr>
            </a:pPr>
            <a:r>
              <a:t>Превышена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1371600" y="137160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t>Рынок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AI в drug discovery: $3.5 млрд (2025), CAGR 30%</a:t>
            </a:r>
          </a:p>
        </p:txBody>
      </p:sp>
      <p:pic>
        <p:nvPicPr>
          <p:cNvPr id="5" name="Picture 4" descr="market_grow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40080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371600"/>
            <a:ext cx="43891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TAM: $3.5 млрд (2025) → $7.6 млрд (2028)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CAGR: 30% — фарма активно внедряет AI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Ниша: ADME/Tox — слабо занята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Клиенты: CRO, биотех, R&amp;D отделы фармы</a:t>
            </a:r>
          </a:p>
          <a:p>
            <a:pPr>
              <a:spcAft>
                <a:spcPts val="600"/>
              </a:spcAft>
              <a:defRPr sz="1700">
                <a:solidFill>
                  <a:srgbClr val="ECF0F1"/>
                </a:solidFill>
              </a:defRPr>
            </a:pPr>
            <a:r>
              <a:t>  Модель: SaaS/API $10K–50K в год за лицензию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9601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</a:defRPr>
            </a:pPr>
            <a:r>
              <a:rPr dirty="0" err="1"/>
              <a:t>Дорожная</a:t>
            </a:r>
            <a:r>
              <a:rPr dirty="0"/>
              <a:t> </a:t>
            </a:r>
            <a:r>
              <a:rPr dirty="0" err="1"/>
              <a:t>карта</a:t>
            </a:r>
            <a:endParaRPr dirty="0"/>
          </a:p>
        </p:txBody>
      </p:sp>
      <p:sp>
        <p:nvSpPr>
          <p:cNvPr id="4" name="TextBox 3"/>
          <p:cNvSpPr txBox="1"/>
          <p:nvPr/>
        </p:nvSpPr>
        <p:spPr>
          <a:xfrm>
            <a:off x="1371600" y="274320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7F8C8D"/>
                </a:solidFill>
              </a:defRPr>
            </a:pPr>
            <a:r>
              <a:t>От MVP до Enterprise SaaS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3291840" cy="54864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ECC71"/>
                </a:solidFill>
              </a:defRPr>
            </a:pPr>
            <a:r>
              <a:t>MVP (Готово)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2-4 недели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12951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rPr dirty="0"/>
              <a:t>    3 </a:t>
            </a:r>
            <a:r>
              <a:rPr dirty="0" err="1"/>
              <a:t>модели</a:t>
            </a:r>
            <a:r>
              <a:rPr dirty="0"/>
              <a:t> </a:t>
            </a:r>
            <a:r>
              <a:rPr dirty="0" err="1"/>
              <a:t>LightGBM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rPr dirty="0"/>
              <a:t>    </a:t>
            </a:r>
            <a:r>
              <a:rPr dirty="0" err="1"/>
              <a:t>Streamlit</a:t>
            </a:r>
            <a:r>
              <a:rPr dirty="0"/>
              <a:t> </a:t>
            </a:r>
            <a:r>
              <a:rPr dirty="0" err="1"/>
              <a:t>веб-интерфейс</a:t>
            </a:r>
            <a:endParaRPr dirty="0"/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rPr dirty="0"/>
              <a:t>    </a:t>
            </a:r>
            <a:r>
              <a:rPr dirty="0" err="1"/>
              <a:t>Валидация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10 </a:t>
            </a:r>
            <a:r>
              <a:rPr dirty="0" err="1"/>
              <a:t>препаратах</a:t>
            </a:r>
            <a:endParaRPr dirty="0"/>
          </a:p>
        </p:txBody>
      </p:sp>
      <p:sp>
        <p:nvSpPr>
          <p:cNvPr id="9" name="Rectangle 8"/>
          <p:cNvSpPr/>
          <p:nvPr/>
        </p:nvSpPr>
        <p:spPr>
          <a:xfrm>
            <a:off x="4754880" y="1828800"/>
            <a:ext cx="3291840" cy="54864"/>
          </a:xfrm>
          <a:prstGeom prst="rect">
            <a:avLst/>
          </a:prstGeom>
          <a:solidFill>
            <a:srgbClr val="3498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75488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3498DB"/>
                </a:solidFill>
              </a:defRPr>
            </a:pPr>
            <a:r>
              <a:t>Пилот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2-3 месяца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29260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GNN (+5-10% к метрикам)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API для интеграции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Пилот с 1-2 CRO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95360" y="1828800"/>
            <a:ext cx="3291840" cy="54864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595360" y="2011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74C3C"/>
                </a:solidFill>
              </a:defRPr>
            </a:pPr>
            <a:r>
              <a:t>Масштаб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95360" y="24688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F8C8D"/>
                </a:solidFill>
              </a:defRPr>
            </a:pPr>
            <a:r>
              <a:t>6-12 месяцев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2926080"/>
            <a:ext cx="3108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5+ ADME/Tox свойств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Enterprise SaaS платформа</a:t>
            </a:r>
          </a:p>
          <a:p>
            <a:pPr>
              <a:spcAft>
                <a:spcPts val="600"/>
              </a:spcAft>
              <a:defRPr sz="1400">
                <a:solidFill>
                  <a:srgbClr val="ECF0F1"/>
                </a:solidFill>
              </a:defRPr>
            </a:pPr>
            <a:r>
              <a:t>    Собственный пайплайн данных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6720840"/>
            <a:ext cx="12191695" cy="13716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914400" y="9144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000" b="1">
                <a:solidFill>
                  <a:srgbClr val="FFFFFF"/>
                </a:solidFill>
              </a:defRPr>
            </a:pPr>
            <a:r>
              <a:t>Запрос: Seed $200K–$500K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2860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Fine-tuning на корпоративных данных: $100K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Наём 2-3 специалистов: $150K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Облачная инфраструктура + GPU: $50K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Маркетинг и продажи: $50–100K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286000"/>
            <a:ext cx="4114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Цель: пилот с 2-3 фарма/CRO партнёрами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Закрытие раунда: Q4 2026</a:t>
            </a:r>
          </a:p>
          <a:p>
            <a:pPr>
              <a:spcAft>
                <a:spcPts val="600"/>
              </a:spcAft>
              <a:defRPr sz="1800">
                <a:solidFill>
                  <a:srgbClr val="ECF0F1"/>
                </a:solidFill>
              </a:defRPr>
            </a:pPr>
            <a:r>
              <a:t>  Следующий раунд: Series A $5–10M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286000"/>
            <a:ext cx="54864" cy="36576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5486400"/>
            <a:ext cx="10058400" cy="54864"/>
          </a:xfrm>
          <a:prstGeom prst="rect">
            <a:avLst/>
          </a:prstGeom>
          <a:solidFill>
            <a:srgbClr val="7F8C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7F8C8D"/>
                </a:solidFill>
              </a:defRPr>
            </a:pPr>
            <a:r>
              <a:t>ADME/Tox Predictor  |  MVP готов  |  Открыты к пилотным проектам  |  D:\AI\biotech\adme_proto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389</Words>
  <Application>Microsoft Office PowerPoint</Application>
  <PresentationFormat>Широкоэкранный</PresentationFormat>
  <Paragraphs>75</Paragraphs>
  <Slides>6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subject/>
  <dc:creator/>
  <cp:keywords/>
  <dc:description>generated using python-pptx</dc:description>
  <cp:lastModifiedBy>Rodion Bykadorov</cp:lastModifiedBy>
  <cp:revision>2</cp:revision>
  <dcterms:created xsi:type="dcterms:W3CDTF">2013-01-27T09:14:16Z</dcterms:created>
  <dcterms:modified xsi:type="dcterms:W3CDTF">2026-07-06T08:26:20Z</dcterms:modified>
  <cp:category/>
</cp:coreProperties>
</file>