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</a:defRPr>
            </a:pPr>
            <a:r>
              <a:t>ADME/Tox Predictor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7F8C8D"/>
                </a:solidFill>
              </a:defRPr>
            </a:pPr>
            <a:r>
              <a:t>AI-скрининг ADME-свойств и токсичности на ранних стадиях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498DB"/>
                </a:solidFill>
              </a:defRPr>
            </a:pPr>
            <a:r>
              <a:t>Презентация для инвесторов  |  Июль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2743200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7F8C8D"/>
                </a:solidFill>
              </a:defRPr>
            </a:pPr>
            <a:r>
              <a:t>  MVP готов  •  3 ADME/Tox свойства  •  Метрики превышают цели</a:t>
            </a:r>
          </a:p>
          <a:p>
            <a:pPr>
              <a:spcAft>
                <a:spcPts val="600"/>
              </a:spcAft>
              <a:defRPr sz="1800">
                <a:solidFill>
                  <a:srgbClr val="7F8C8D"/>
                </a:solidFill>
              </a:defRPr>
            </a:pPr>
            <a:r>
              <a:t>  Streamlit UI  •  Валидация на известных препаратах  •  Данные Harvard Dataverse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7F8C8D"/>
                </a:solidFill>
              </a:defRPr>
            </a:pPr>
            <a:r>
              <a:t>Почему 90% кандидатов проваливаются в клинических испытаниях</a:t>
            </a:r>
          </a:p>
        </p:txBody>
      </p:sp>
      <p:pic>
        <p:nvPicPr>
          <p:cNvPr id="5" name="Picture 4" descr="eroms_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64008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09728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90% отсев — главная причина: плохие ADME/Tox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$2.23 млрд — средняя стоимость разработки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Eroom's Law: эффективность R&amp;D падает вдвое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60% бюджета уходит на «не те» молекулы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Традиционный скрининг: медленно, дорого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7F8C8D"/>
                </a:solidFill>
              </a:defRPr>
            </a:pPr>
            <a:r>
              <a:t>AI-предсказание ADME/Tox до синтеза молекулы</a:t>
            </a:r>
          </a:p>
        </p:txBody>
      </p:sp>
      <p:pic>
        <p:nvPicPr>
          <p:cNvPr id="5" name="Picture 4" descr="business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85800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3716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Менее 1 сек на предсказание на CPU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54 мес → 18 мес — срок discovery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$2.23 млрд → ~$220 млн — стоимость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В 5–10 раз меньше синтезов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Валидация на известных препаратах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Производительность моделей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7F8C8D"/>
                </a:solidFill>
              </a:defRPr>
            </a:pPr>
            <a:r>
              <a:t>Метрики MVP по трём ADME/Tox свойствам</a:t>
            </a:r>
          </a:p>
        </p:txBody>
      </p:sp>
      <p:pic>
        <p:nvPicPr>
          <p:cNvPr id="5" name="Picture 4" descr="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772400" cy="3200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846320"/>
            <a:ext cx="11247120" cy="164592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</a:defRPr>
            </a:pPr>
            <a:r>
              <a:t>Свойство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4937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</a:defRPr>
            </a:pPr>
            <a:r>
              <a:t>Датасет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49377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</a:defRPr>
            </a:pPr>
            <a:r>
              <a:t>Размер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49377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</a:defRPr>
            </a:pPr>
            <a:r>
              <a:t>Модель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937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</a:defRPr>
            </a:pPr>
            <a:r>
              <a:t>Цель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4937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</a:defRPr>
            </a:pPr>
            <a:r>
              <a:t>Достигнуто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4937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</a:defRPr>
            </a:pPr>
            <a:r>
              <a:t>Статус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40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Растворимость (logS)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440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AqSolDB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54406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9 982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5440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LightGBM регр.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5440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R² &gt; 0.6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5440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R² = 0.826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5440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</a:defRPr>
            </a:pPr>
            <a:r>
              <a:t>Превышена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06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Caco-2 проницаемость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806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Wang et 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5806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910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5806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LightGBM клас.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5806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Acc &gt;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5806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Acc = 83.0%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5806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</a:defRPr>
            </a:pPr>
            <a:r>
              <a:t>Превышена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172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hERG токсичность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6172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TDC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61722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655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6172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LightGBM клас.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6172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AUC &gt; 0.7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6172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AUC = 0.873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172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</a:defRPr>
            </a:pPr>
            <a:r>
              <a:t>Превышена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Рынок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7F8C8D"/>
                </a:solidFill>
              </a:defRPr>
            </a:pPr>
            <a:r>
              <a:t>AI в drug discovery: $3.5 млрд в 2025, рост 30% в год</a:t>
            </a:r>
          </a:p>
        </p:txBody>
      </p:sp>
      <p:pic>
        <p:nvPicPr>
          <p:cNvPr id="5" name="Picture 4" descr="market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4008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3716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TAM: $3.5 млрд (2025) → $7.6 млрд (2028)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CAGR: 30% — фарма внедряет AI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Ниша ADME/Tox: слабо занята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Клиенты: CRO, биотех, фарма R&amp;D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SaaS/API: $10K–$50K в год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Почему ADME/Tox?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7F8C8D"/>
                </a:solidFill>
              </a:defRPr>
            </a:pPr>
            <a:r>
              <a:t>60% R&amp;D бюджета — lead optimization, наша цель</a:t>
            </a:r>
          </a:p>
        </p:txBody>
      </p:sp>
      <p:pic>
        <p:nvPicPr>
          <p:cNvPr id="5" name="Picture 4" descr="lead_optim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60% бюджета фармы = lead optimization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Отсев молекул с плохим ADME/Tox профилем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Наша модель: в 5-10 раз меньше синтезов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ROI для клиента: 10x–50x на подписке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Экономия $1–5 млн на одной программе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Дорожная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7F8C8D"/>
                </a:solidFill>
              </a:defRPr>
            </a:pPr>
            <a:r>
              <a:t>От MVP до Enterprise SaaS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3291840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</a:defRPr>
            </a:pPr>
            <a:r>
              <a:t>MVP (Готово)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</a:defRPr>
            </a:pPr>
            <a:r>
              <a:t>2-4 недели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t>    3 модели LightGBM</a:t>
            </a:r>
          </a:p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t>    Streamlit веб-интерфейс</a:t>
            </a:r>
          </a:p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t>    Валидация на 10 известных препаратах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828800"/>
            <a:ext cx="3291840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20116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98DB"/>
                </a:solidFill>
              </a:defRPr>
            </a:pPr>
            <a:r>
              <a:t>Пилот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468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</a:defRPr>
            </a:pPr>
            <a:r>
              <a:t>2-3 месяца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92608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t>    GNN +5-10% к метрикам</a:t>
            </a:r>
          </a:p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t>    API для интеграции</a:t>
            </a:r>
          </a:p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t>    Пилот с 1-2 CRO партнёрами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1828800"/>
            <a:ext cx="3291840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20116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</a:defRPr>
            </a:pPr>
            <a:r>
              <a:t>Масштаб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468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</a:defRPr>
            </a:pPr>
            <a:r>
              <a:t>6-12 месяцев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92608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t>    5+ ADME/Tox свойств</a:t>
            </a:r>
          </a:p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t>    Enterprise SaaS платформа</a:t>
            </a:r>
          </a:p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t>    Собственный пайплайн данных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Финансовый запрос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7F8C8D"/>
                </a:solidFill>
              </a:defRPr>
            </a:pPr>
            <a:r>
              <a:t>Seed-раунд: $200K – $500K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ECF0F1"/>
                </a:solidFill>
              </a:defRPr>
            </a:pPr>
            <a:r>
              <a:t>  Fine-tuning на данных CRO: $100K</a:t>
            </a:r>
          </a:p>
          <a:p>
            <a:pPr>
              <a:spcAft>
                <a:spcPts val="600"/>
              </a:spcAft>
              <a:defRPr sz="1800">
                <a:solidFill>
                  <a:srgbClr val="ECF0F1"/>
                </a:solidFill>
              </a:defRPr>
            </a:pPr>
            <a:r>
              <a:t>  Наём 2-3 специалистов: $150K</a:t>
            </a:r>
          </a:p>
          <a:p>
            <a:pPr>
              <a:spcAft>
                <a:spcPts val="600"/>
              </a:spcAft>
              <a:defRPr sz="1800">
                <a:solidFill>
                  <a:srgbClr val="ECF0F1"/>
                </a:solidFill>
              </a:defRPr>
            </a:pPr>
            <a:r>
              <a:t>  Облачные GPU + данные: $50K</a:t>
            </a:r>
          </a:p>
          <a:p>
            <a:pPr>
              <a:spcAft>
                <a:spcPts val="600"/>
              </a:spcAft>
              <a:defRPr sz="1800">
                <a:solidFill>
                  <a:srgbClr val="ECF0F1"/>
                </a:solidFill>
              </a:defRPr>
            </a:pPr>
            <a:r>
              <a:t>  Маркетинг и продажи: $50–100K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2860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ECF0F1"/>
                </a:solidFill>
              </a:defRPr>
            </a:pPr>
            <a:r>
              <a:t>  Цель: пилот с 2-3 фарма/CRO</a:t>
            </a:r>
          </a:p>
          <a:p>
            <a:pPr>
              <a:spcAft>
                <a:spcPts val="600"/>
              </a:spcAft>
              <a:defRPr sz="1800">
                <a:solidFill>
                  <a:srgbClr val="ECF0F1"/>
                </a:solidFill>
              </a:defRPr>
            </a:pPr>
            <a:r>
              <a:t>  Закрытие раунда: Q4 2026</a:t>
            </a:r>
          </a:p>
          <a:p>
            <a:pPr>
              <a:spcAft>
                <a:spcPts val="600"/>
              </a:spcAft>
              <a:defRPr sz="1800">
                <a:solidFill>
                  <a:srgbClr val="ECF0F1"/>
                </a:solidFill>
              </a:defRPr>
            </a:pPr>
            <a:r>
              <a:t>  Следующий раунд: Series A $5–10M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286000"/>
            <a:ext cx="54864" cy="36576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Почему сейчас?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7F8C8D"/>
                </a:solidFill>
              </a:defRPr>
            </a:pPr>
            <a:r>
              <a:t>Идеальный момент для AI в drug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ECF0F1"/>
                </a:solidFill>
              </a:defRPr>
            </a:pPr>
            <a:r>
              <a:t>  Рынок растёт: $3.5 млрд → $7.6 млрд за 3 года</a:t>
            </a:r>
          </a:p>
          <a:p>
            <a:pPr>
              <a:spcAft>
                <a:spcPts val="600"/>
              </a:spcAft>
              <a:defRPr sz="2000">
                <a:solidFill>
                  <a:srgbClr val="ECF0F1"/>
                </a:solidFill>
              </a:defRPr>
            </a:pPr>
            <a:r>
              <a:t>  Данные доступны: TDC, ChEMBL, PubChem</a:t>
            </a:r>
          </a:p>
          <a:p>
            <a:pPr>
              <a:spcAft>
                <a:spcPts val="600"/>
              </a:spcAft>
              <a:defRPr sz="2000">
                <a:solidFill>
                  <a:srgbClr val="ECF0F1"/>
                </a:solidFill>
              </a:defRPr>
            </a:pPr>
            <a:r>
              <a:t>  Кейс Insilico: Rentosertib в Phase IIa, привлёк $500M+</a:t>
            </a:r>
          </a:p>
          <a:p>
            <a:pPr>
              <a:spcAft>
                <a:spcPts val="600"/>
              </a:spcAft>
              <a:defRPr sz="2000">
                <a:solidFill>
                  <a:srgbClr val="ECF0F1"/>
                </a:solidFill>
              </a:defRPr>
            </a:pPr>
            <a:r>
              <a:t>  Eroom's Law делает AI необходимостью</a:t>
            </a:r>
          </a:p>
          <a:p>
            <a:pPr>
              <a:spcAft>
                <a:spcPts val="600"/>
              </a:spcAft>
              <a:defRPr sz="2000">
                <a:solidFill>
                  <a:srgbClr val="ECF0F1"/>
                </a:solidFill>
              </a:defRPr>
            </a:pPr>
            <a:r>
              <a:t>  MVP уже работает с метриками выше целей</a:t>
            </a:r>
          </a:p>
          <a:p>
            <a:pPr>
              <a:spcAft>
                <a:spcPts val="600"/>
              </a:spcAft>
              <a:defRPr sz="2000">
                <a:solidFill>
                  <a:srgbClr val="ECF0F1"/>
                </a:solidFill>
              </a:defRPr>
            </a:pPr>
            <a:r>
              <a:t>  Низкий порог входа для пилотного проекта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35477531420"/>
            <a:ext cx="12191695" cy="1371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ADME/Tox Predictor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3498DB"/>
                </a:solidFill>
              </a:defRPr>
            </a:pPr>
            <a:r>
              <a:t>Спасибо 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F8C8D"/>
                </a:solidFill>
              </a:defRPr>
            </a:pPr>
            <a:r>
              <a:t>MVP готов | Открыты к пилотным проектам | Ищем партнёров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F8C8D"/>
                </a:solidFill>
              </a:defRPr>
            </a:pPr>
            <a:r>
              <a:t>D:\AI\biotech\adme_proto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