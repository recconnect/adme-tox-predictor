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 snapToObjects="1">
      <p:cViewPr varScale="1">
        <p:scale>
          <a:sx n="113" d="100"/>
          <a:sy n="113" d="100"/>
        </p:scale>
        <p:origin x="510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400" b="1">
                <a:solidFill>
                  <a:srgbClr val="FFFFFF"/>
                </a:solidFill>
              </a:defRPr>
            </a:pPr>
            <a:r>
              <a:t>ADME/Tox Predictor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5603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7F8C8D"/>
                </a:solidFill>
              </a:defRPr>
            </a:pPr>
            <a:r>
              <a:t>AI-скрининг ADME-свойств и токсичности на ранних стадиях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657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3498DB"/>
                </a:solidFill>
              </a:defRPr>
            </a:pPr>
            <a:r>
              <a:t>Презентация для инвесторов  |  Июль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4572000"/>
            <a:ext cx="2743200" cy="5486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484632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7F8C8D"/>
                </a:solidFill>
              </a:defRPr>
            </a:pPr>
            <a:r>
              <a:t>  MVP готов  •  3 ADME/Tox свойства  •  Метрики превышают цели</a:t>
            </a:r>
          </a:p>
          <a:p>
            <a:pPr>
              <a:spcAft>
                <a:spcPts val="600"/>
              </a:spcAft>
              <a:defRPr sz="1800">
                <a:solidFill>
                  <a:srgbClr val="7F8C8D"/>
                </a:solidFill>
              </a:defRPr>
            </a:pPr>
            <a:r>
              <a:t>  Streamlit UI  •  Валидация на известных препаратах  •  Данные Harvard Dataverse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371600" y="13716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Проблема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743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7F8C8D"/>
                </a:solidFill>
              </a:defRPr>
            </a:pPr>
            <a:r>
              <a:t>Почему 90% кандидатов проваливаются в клинических испытаниях</a:t>
            </a:r>
          </a:p>
        </p:txBody>
      </p:sp>
      <p:pic>
        <p:nvPicPr>
          <p:cNvPr id="5" name="Picture 4" descr="eroms_la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97280"/>
            <a:ext cx="6400800" cy="36576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498079" y="1097280"/>
            <a:ext cx="4114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ECF0F1"/>
                </a:solidFill>
              </a:defRPr>
            </a:pPr>
            <a:r>
              <a:t>  90% отсев — главная причина: плохие ADME/Tox</a:t>
            </a:r>
          </a:p>
          <a:p>
            <a:pPr>
              <a:spcAft>
                <a:spcPts val="600"/>
              </a:spcAft>
              <a:defRPr sz="1700">
                <a:solidFill>
                  <a:srgbClr val="ECF0F1"/>
                </a:solidFill>
              </a:defRPr>
            </a:pPr>
            <a:r>
              <a:t>  $2.23 млрд — средняя стоимость разработки</a:t>
            </a:r>
          </a:p>
          <a:p>
            <a:pPr>
              <a:spcAft>
                <a:spcPts val="600"/>
              </a:spcAft>
              <a:defRPr sz="1700">
                <a:solidFill>
                  <a:srgbClr val="ECF0F1"/>
                </a:solidFill>
              </a:defRPr>
            </a:pPr>
            <a:r>
              <a:t>  Eroom's Law: эффективность R&amp;D падает вдвое</a:t>
            </a:r>
          </a:p>
          <a:p>
            <a:pPr>
              <a:spcAft>
                <a:spcPts val="600"/>
              </a:spcAft>
              <a:defRPr sz="1700">
                <a:solidFill>
                  <a:srgbClr val="ECF0F1"/>
                </a:solidFill>
              </a:defRPr>
            </a:pPr>
            <a:r>
              <a:t>  60% бюджета уходит на «не те» молекулы</a:t>
            </a:r>
          </a:p>
          <a:p>
            <a:pPr>
              <a:spcAft>
                <a:spcPts val="600"/>
              </a:spcAft>
              <a:defRPr sz="1700">
                <a:solidFill>
                  <a:srgbClr val="ECF0F1"/>
                </a:solidFill>
              </a:defRPr>
            </a:pPr>
            <a:r>
              <a:t>  Традиционный скрининг: медленно, дорого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371600" y="13716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Решение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743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7F8C8D"/>
                </a:solidFill>
              </a:defRPr>
            </a:pPr>
            <a:r>
              <a:t>AI-предсказание ADME/Tox до синтеза молекулы</a:t>
            </a:r>
          </a:p>
        </p:txBody>
      </p:sp>
      <p:pic>
        <p:nvPicPr>
          <p:cNvPr id="5" name="Picture 4" descr="business_ca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71600"/>
            <a:ext cx="6858000" cy="34747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0" y="1371600"/>
            <a:ext cx="3840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ECF0F1"/>
                </a:solidFill>
              </a:defRPr>
            </a:pPr>
            <a:r>
              <a:t>  Менее 1 сек на предсказание на CPU</a:t>
            </a:r>
          </a:p>
          <a:p>
            <a:pPr>
              <a:spcAft>
                <a:spcPts val="600"/>
              </a:spcAft>
              <a:defRPr sz="1700">
                <a:solidFill>
                  <a:srgbClr val="ECF0F1"/>
                </a:solidFill>
              </a:defRPr>
            </a:pPr>
            <a:r>
              <a:t>  54 мес → 18 мес — срок discovery</a:t>
            </a:r>
          </a:p>
          <a:p>
            <a:pPr>
              <a:spcAft>
                <a:spcPts val="600"/>
              </a:spcAft>
              <a:defRPr sz="1700">
                <a:solidFill>
                  <a:srgbClr val="ECF0F1"/>
                </a:solidFill>
              </a:defRPr>
            </a:pPr>
            <a:r>
              <a:t>  $2.23 млрд → ~$220 млн — стоимость</a:t>
            </a:r>
          </a:p>
          <a:p>
            <a:pPr>
              <a:spcAft>
                <a:spcPts val="600"/>
              </a:spcAft>
              <a:defRPr sz="1700">
                <a:solidFill>
                  <a:srgbClr val="ECF0F1"/>
                </a:solidFill>
              </a:defRPr>
            </a:pPr>
            <a:r>
              <a:t>  В 5–10 раз меньше синтезов</a:t>
            </a:r>
          </a:p>
          <a:p>
            <a:pPr>
              <a:spcAft>
                <a:spcPts val="600"/>
              </a:spcAft>
              <a:defRPr sz="1700">
                <a:solidFill>
                  <a:srgbClr val="ECF0F1"/>
                </a:solidFill>
              </a:defRPr>
            </a:pPr>
            <a:r>
              <a:t>  Валидация на известных препаратах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371600" y="13716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Производительность моделей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743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7F8C8D"/>
                </a:solidFill>
              </a:defRPr>
            </a:pPr>
            <a:r>
              <a:t>Метрики MVP по трём ADME/Tox свойствам</a:t>
            </a:r>
          </a:p>
        </p:txBody>
      </p:sp>
      <p:pic>
        <p:nvPicPr>
          <p:cNvPr id="5" name="Picture 4" descr="metrics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7772400" cy="32004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4846320"/>
            <a:ext cx="11247120" cy="1645920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49377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498DB"/>
                </a:solidFill>
              </a:defRPr>
            </a:pPr>
            <a:r>
              <a:t>Свойство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49377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498DB"/>
                </a:solidFill>
              </a:defRPr>
            </a:pPr>
            <a:r>
              <a:t>Датасет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493776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498DB"/>
                </a:solidFill>
              </a:defRPr>
            </a:pPr>
            <a:r>
              <a:t>Размер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60" y="493776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498DB"/>
                </a:solidFill>
              </a:defRPr>
            </a:pPr>
            <a:r>
              <a:t>Модель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0" y="493776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498DB"/>
                </a:solidFill>
              </a:defRPr>
            </a:pPr>
            <a:r>
              <a:t>Цель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35440" y="493776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498DB"/>
                </a:solidFill>
              </a:defRPr>
            </a:pPr>
            <a:r>
              <a:t>Достигнуто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7040" y="493776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498DB"/>
                </a:solidFill>
              </a:defRPr>
            </a:pPr>
            <a:r>
              <a:t>Статус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4406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CF0F1"/>
                </a:solidFill>
              </a:defRPr>
            </a:pPr>
            <a:r>
              <a:t>Растворимость (logS)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54406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CF0F1"/>
                </a:solidFill>
              </a:defRPr>
            </a:pPr>
            <a:r>
              <a:t>AqSolDB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0" y="544068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CF0F1"/>
                </a:solidFill>
              </a:defRPr>
            </a:pPr>
            <a:r>
              <a:t>9 982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52160" y="54406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CF0F1"/>
                </a:solidFill>
              </a:defRPr>
            </a:pPr>
            <a:r>
              <a:t>LightGBM регр.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0" y="54406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CF0F1"/>
                </a:solidFill>
              </a:defRPr>
            </a:pPr>
            <a:r>
              <a:t>R² &gt; 0.6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35440" y="54406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CF0F1"/>
                </a:solidFill>
              </a:defRPr>
            </a:pPr>
            <a:r>
              <a:t>R² = 0.826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7040" y="54406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ECC71"/>
                </a:solidFill>
              </a:defRPr>
            </a:pPr>
            <a:r>
              <a:t>Превышена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58064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CF0F1"/>
                </a:solidFill>
              </a:defRPr>
            </a:pPr>
            <a:r>
              <a:t>Caco-2 проницаемость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26080" y="58064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CF0F1"/>
                </a:solidFill>
              </a:defRPr>
            </a:pPr>
            <a:r>
              <a:t>Wang et al.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54880" y="580644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CF0F1"/>
                </a:solidFill>
              </a:defRPr>
            </a:pPr>
            <a:r>
              <a:t>910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52160" y="58064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CF0F1"/>
                </a:solidFill>
              </a:defRPr>
            </a:pPr>
            <a:r>
              <a:t>LightGBM клас.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63840" y="58064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CF0F1"/>
                </a:solidFill>
              </a:defRPr>
            </a:pPr>
            <a:r>
              <a:t>Acc &gt; 75%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35440" y="58064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CF0F1"/>
                </a:solidFill>
              </a:defRPr>
            </a:pPr>
            <a:r>
              <a:t>Acc = 83.0%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7040" y="58064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ECC71"/>
                </a:solidFill>
              </a:defRPr>
            </a:pPr>
            <a:r>
              <a:t>Превышена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61722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CF0F1"/>
                </a:solidFill>
              </a:defRPr>
            </a:pPr>
            <a:r>
              <a:t>hERG токсичность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926080" y="61722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CF0F1"/>
                </a:solidFill>
              </a:defRPr>
            </a:pPr>
            <a:r>
              <a:t>TDC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54880" y="61722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CF0F1"/>
                </a:solidFill>
              </a:defRPr>
            </a:pPr>
            <a:r>
              <a:t>655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52160" y="61722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CF0F1"/>
                </a:solidFill>
              </a:defRPr>
            </a:pPr>
            <a:r>
              <a:t>LightGBM клас.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63840" y="61722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CF0F1"/>
                </a:solidFill>
              </a:defRPr>
            </a:pPr>
            <a:r>
              <a:t>AUC &gt; 0.7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35440" y="61722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CF0F1"/>
                </a:solidFill>
              </a:defRPr>
            </a:pPr>
            <a:r>
              <a:t>AUC = 0.873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607040" y="61722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ECC71"/>
                </a:solidFill>
              </a:defRPr>
            </a:pPr>
            <a:r>
              <a:t>Превышена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371600" y="13716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Рынок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743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7F8C8D"/>
                </a:solidFill>
              </a:defRPr>
            </a:pPr>
            <a:r>
              <a:t>AI в drug discovery: $3.5 млрд в 2025, рост 30% в год</a:t>
            </a:r>
          </a:p>
        </p:txBody>
      </p:sp>
      <p:pic>
        <p:nvPicPr>
          <p:cNvPr id="5" name="Picture 4" descr="market_grow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6400800" cy="36576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0" y="1371600"/>
            <a:ext cx="4389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ECF0F1"/>
                </a:solidFill>
              </a:defRPr>
            </a:pPr>
            <a:r>
              <a:t>  TAM: $3.5 млрд (2025) → $7.6 млрд (2028)</a:t>
            </a:r>
          </a:p>
          <a:p>
            <a:pPr>
              <a:spcAft>
                <a:spcPts val="600"/>
              </a:spcAft>
              <a:defRPr sz="1700">
                <a:solidFill>
                  <a:srgbClr val="ECF0F1"/>
                </a:solidFill>
              </a:defRPr>
            </a:pPr>
            <a:r>
              <a:t>  CAGR: 30% — фарма внедряет AI</a:t>
            </a:r>
          </a:p>
          <a:p>
            <a:pPr>
              <a:spcAft>
                <a:spcPts val="600"/>
              </a:spcAft>
              <a:defRPr sz="1700">
                <a:solidFill>
                  <a:srgbClr val="ECF0F1"/>
                </a:solidFill>
              </a:defRPr>
            </a:pPr>
            <a:r>
              <a:t>  Ниша ADME/Tox: слабо занята</a:t>
            </a:r>
          </a:p>
          <a:p>
            <a:pPr>
              <a:spcAft>
                <a:spcPts val="600"/>
              </a:spcAft>
              <a:defRPr sz="1700">
                <a:solidFill>
                  <a:srgbClr val="ECF0F1"/>
                </a:solidFill>
              </a:defRPr>
            </a:pPr>
            <a:r>
              <a:t>  Клиенты: CRO, биотех, фарма R&amp;D</a:t>
            </a:r>
          </a:p>
          <a:p>
            <a:pPr>
              <a:spcAft>
                <a:spcPts val="600"/>
              </a:spcAft>
              <a:defRPr sz="1700">
                <a:solidFill>
                  <a:srgbClr val="ECF0F1"/>
                </a:solidFill>
              </a:defRPr>
            </a:pPr>
            <a:r>
              <a:t>  SaaS/API: $10K–$50K в год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371600" y="13716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Почему ADME/Tox?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743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7F8C8D"/>
                </a:solidFill>
              </a:defRPr>
            </a:pPr>
            <a:r>
              <a:t>60% R&amp;D бюджета — lead optimization, наша цель</a:t>
            </a:r>
          </a:p>
        </p:txBody>
      </p:sp>
      <p:pic>
        <p:nvPicPr>
          <p:cNvPr id="5" name="Picture 4" descr="lead_optimiz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5486400" cy="4114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0" y="137160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ECF0F1"/>
                </a:solidFill>
              </a:defRPr>
            </a:pPr>
            <a:r>
              <a:t>  60% бюджета фармы = lead optimization</a:t>
            </a:r>
          </a:p>
          <a:p>
            <a:pPr>
              <a:spcAft>
                <a:spcPts val="600"/>
              </a:spcAft>
              <a:defRPr sz="1700">
                <a:solidFill>
                  <a:srgbClr val="ECF0F1"/>
                </a:solidFill>
              </a:defRPr>
            </a:pPr>
            <a:r>
              <a:t>  Отсев молекул с плохим ADME/Tox профилем</a:t>
            </a:r>
          </a:p>
          <a:p>
            <a:pPr>
              <a:spcAft>
                <a:spcPts val="600"/>
              </a:spcAft>
              <a:defRPr sz="1700">
                <a:solidFill>
                  <a:srgbClr val="ECF0F1"/>
                </a:solidFill>
              </a:defRPr>
            </a:pPr>
            <a:r>
              <a:t>  Наша модель: в 5-10 раз меньше синтезов</a:t>
            </a:r>
          </a:p>
          <a:p>
            <a:pPr>
              <a:spcAft>
                <a:spcPts val="600"/>
              </a:spcAft>
              <a:defRPr sz="1700">
                <a:solidFill>
                  <a:srgbClr val="ECF0F1"/>
                </a:solidFill>
              </a:defRPr>
            </a:pPr>
            <a:r>
              <a:t>  ROI для клиента: 10x–50x на подписке</a:t>
            </a:r>
          </a:p>
          <a:p>
            <a:pPr>
              <a:spcAft>
                <a:spcPts val="600"/>
              </a:spcAft>
              <a:defRPr sz="1700">
                <a:solidFill>
                  <a:srgbClr val="ECF0F1"/>
                </a:solidFill>
              </a:defRPr>
            </a:pPr>
            <a:r>
              <a:t>  Экономия $1–5 млн на одной программе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371600" y="13716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Дорожная карта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743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7F8C8D"/>
                </a:solidFill>
              </a:defRPr>
            </a:pPr>
            <a:r>
              <a:t>От MVP до Enterprise SaaS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828800"/>
            <a:ext cx="3291840" cy="5486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ECC71"/>
                </a:solidFill>
              </a:defRPr>
            </a:pPr>
            <a:r>
              <a:t>MVP (Готово)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46888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F8C8D"/>
                </a:solidFill>
              </a:defRPr>
            </a:pPr>
            <a:r>
              <a:t>2-4 недели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926080"/>
            <a:ext cx="31089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ECF0F1"/>
                </a:solidFill>
              </a:defRPr>
            </a:pPr>
            <a:r>
              <a:t>    3 модели LightGBM</a:t>
            </a:r>
          </a:p>
          <a:p>
            <a:pPr>
              <a:spcAft>
                <a:spcPts val="600"/>
              </a:spcAft>
              <a:defRPr sz="1400">
                <a:solidFill>
                  <a:srgbClr val="ECF0F1"/>
                </a:solidFill>
              </a:defRPr>
            </a:pPr>
            <a:r>
              <a:t>    Streamlit веб-интерфейс</a:t>
            </a:r>
          </a:p>
          <a:p>
            <a:pPr>
              <a:spcAft>
                <a:spcPts val="600"/>
              </a:spcAft>
              <a:defRPr sz="1400">
                <a:solidFill>
                  <a:srgbClr val="ECF0F1"/>
                </a:solidFill>
              </a:defRPr>
            </a:pPr>
            <a:r>
              <a:t>    Валидация на 10 известных препаратах</a:t>
            </a:r>
          </a:p>
        </p:txBody>
      </p:sp>
      <p:sp>
        <p:nvSpPr>
          <p:cNvPr id="9" name="Rectangle 8"/>
          <p:cNvSpPr/>
          <p:nvPr/>
        </p:nvSpPr>
        <p:spPr>
          <a:xfrm>
            <a:off x="4754880" y="1828800"/>
            <a:ext cx="3291840" cy="54864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754880" y="20116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498DB"/>
                </a:solidFill>
              </a:defRPr>
            </a:pPr>
            <a:r>
              <a:t>Пилот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246888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F8C8D"/>
                </a:solidFill>
              </a:defRPr>
            </a:pPr>
            <a:r>
              <a:t>2-3 месяца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0" y="2926080"/>
            <a:ext cx="31089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ECF0F1"/>
                </a:solidFill>
              </a:defRPr>
            </a:pPr>
            <a:r>
              <a:t>    GNN +5-10% к метрикам</a:t>
            </a:r>
          </a:p>
          <a:p>
            <a:pPr>
              <a:spcAft>
                <a:spcPts val="600"/>
              </a:spcAft>
              <a:defRPr sz="1400">
                <a:solidFill>
                  <a:srgbClr val="ECF0F1"/>
                </a:solidFill>
              </a:defRPr>
            </a:pPr>
            <a:r>
              <a:t>    API для интеграции</a:t>
            </a:r>
          </a:p>
          <a:p>
            <a:pPr>
              <a:spcAft>
                <a:spcPts val="600"/>
              </a:spcAft>
              <a:defRPr sz="1400">
                <a:solidFill>
                  <a:srgbClr val="ECF0F1"/>
                </a:solidFill>
              </a:defRPr>
            </a:pPr>
            <a:r>
              <a:t>    Пилот с 1-2 CRO партнёрами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595360" y="1828800"/>
            <a:ext cx="3291840" cy="54864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595360" y="20116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E74C3C"/>
                </a:solidFill>
              </a:defRPr>
            </a:pPr>
            <a:r>
              <a:t>Масштаб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246888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F8C8D"/>
                </a:solidFill>
              </a:defRPr>
            </a:pPr>
            <a:r>
              <a:t>6-12 месяцев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0" y="2926080"/>
            <a:ext cx="31089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ECF0F1"/>
                </a:solidFill>
              </a:defRPr>
            </a:pPr>
            <a:r>
              <a:t>    5+ ADME/Tox свойств</a:t>
            </a:r>
          </a:p>
          <a:p>
            <a:pPr>
              <a:spcAft>
                <a:spcPts val="600"/>
              </a:spcAft>
              <a:defRPr sz="1400">
                <a:solidFill>
                  <a:srgbClr val="ECF0F1"/>
                </a:solidFill>
              </a:defRPr>
            </a:pPr>
            <a:r>
              <a:t>    Enterprise SaaS платформа</a:t>
            </a:r>
          </a:p>
          <a:p>
            <a:pPr>
              <a:spcAft>
                <a:spcPts val="600"/>
              </a:spcAft>
              <a:defRPr sz="1400">
                <a:solidFill>
                  <a:srgbClr val="ECF0F1"/>
                </a:solidFill>
              </a:defRPr>
            </a:pPr>
            <a:r>
              <a:t>    Собственный пайплайн данных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371600" y="13716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Финансовый запрос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743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7F8C8D"/>
                </a:solidFill>
              </a:defRPr>
            </a:pPr>
            <a:r>
              <a:t>Seed-раунд: $200K – $500K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286000"/>
            <a:ext cx="4114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ECF0F1"/>
                </a:solidFill>
              </a:defRPr>
            </a:pPr>
            <a:r>
              <a:t>  Fine-tuning на данных CRO: $100K</a:t>
            </a:r>
          </a:p>
          <a:p>
            <a:pPr>
              <a:spcAft>
                <a:spcPts val="600"/>
              </a:spcAft>
              <a:defRPr sz="1800">
                <a:solidFill>
                  <a:srgbClr val="ECF0F1"/>
                </a:solidFill>
              </a:defRPr>
            </a:pPr>
            <a:r>
              <a:t>  Наём 2-3 специалистов: $150K</a:t>
            </a:r>
          </a:p>
          <a:p>
            <a:pPr>
              <a:spcAft>
                <a:spcPts val="600"/>
              </a:spcAft>
              <a:defRPr sz="1800">
                <a:solidFill>
                  <a:srgbClr val="ECF0F1"/>
                </a:solidFill>
              </a:defRPr>
            </a:pPr>
            <a:r>
              <a:t>  Облачные GPU + данные: $50K</a:t>
            </a:r>
          </a:p>
          <a:p>
            <a:pPr>
              <a:spcAft>
                <a:spcPts val="600"/>
              </a:spcAft>
              <a:defRPr sz="1800">
                <a:solidFill>
                  <a:srgbClr val="ECF0F1"/>
                </a:solidFill>
              </a:defRPr>
            </a:pPr>
            <a:r>
              <a:t>  Маркетинг и продажи: $50–100K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2286000"/>
            <a:ext cx="4114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ECF0F1"/>
                </a:solidFill>
              </a:defRPr>
            </a:pPr>
            <a:r>
              <a:t>  Цель: пилот с 2-3 фарма/CRO</a:t>
            </a:r>
          </a:p>
          <a:p>
            <a:pPr>
              <a:spcAft>
                <a:spcPts val="600"/>
              </a:spcAft>
              <a:defRPr sz="1800">
                <a:solidFill>
                  <a:srgbClr val="ECF0F1"/>
                </a:solidFill>
              </a:defRPr>
            </a:pPr>
            <a:r>
              <a:t>  Закрытие раунда: Q4 2026</a:t>
            </a:r>
          </a:p>
          <a:p>
            <a:pPr>
              <a:spcAft>
                <a:spcPts val="600"/>
              </a:spcAft>
              <a:defRPr sz="1800">
                <a:solidFill>
                  <a:srgbClr val="ECF0F1"/>
                </a:solidFill>
              </a:defRPr>
            </a:pPr>
            <a:r>
              <a:t>  Следующий раунд: Series A $5–10M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0" y="2286000"/>
            <a:ext cx="54864" cy="365760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371600" y="13716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Почему сейчас?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743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7F8C8D"/>
                </a:solidFill>
              </a:defRPr>
            </a:pPr>
            <a:r>
              <a:t>Идеальный момент для AI в drug discovery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286000"/>
            <a:ext cx="9144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ECF0F1"/>
                </a:solidFill>
              </a:defRPr>
            </a:pPr>
            <a:r>
              <a:t>  Рынок растёт: $3.5 млрд → $7.6 млрд за 3 года</a:t>
            </a:r>
          </a:p>
          <a:p>
            <a:pPr>
              <a:spcAft>
                <a:spcPts val="600"/>
              </a:spcAft>
              <a:defRPr sz="2000">
                <a:solidFill>
                  <a:srgbClr val="ECF0F1"/>
                </a:solidFill>
              </a:defRPr>
            </a:pPr>
            <a:r>
              <a:t>  Данные доступны: TDC, ChEMBL, PubChem</a:t>
            </a:r>
          </a:p>
          <a:p>
            <a:pPr>
              <a:spcAft>
                <a:spcPts val="600"/>
              </a:spcAft>
              <a:defRPr sz="2000">
                <a:solidFill>
                  <a:srgbClr val="ECF0F1"/>
                </a:solidFill>
              </a:defRPr>
            </a:pPr>
            <a:r>
              <a:t>  Кейс Insilico: Rentosertib в Phase IIa, привлёк $500M+</a:t>
            </a:r>
          </a:p>
          <a:p>
            <a:pPr>
              <a:spcAft>
                <a:spcPts val="600"/>
              </a:spcAft>
              <a:defRPr sz="2000">
                <a:solidFill>
                  <a:srgbClr val="ECF0F1"/>
                </a:solidFill>
              </a:defRPr>
            </a:pPr>
            <a:r>
              <a:t>  Eroom's Law делает AI необходимостью</a:t>
            </a:r>
          </a:p>
          <a:p>
            <a:pPr>
              <a:spcAft>
                <a:spcPts val="600"/>
              </a:spcAft>
              <a:defRPr sz="2000">
                <a:solidFill>
                  <a:srgbClr val="ECF0F1"/>
                </a:solidFill>
              </a:defRPr>
            </a:pPr>
            <a:r>
              <a:t>  MVP уже работает с метриками выше целей</a:t>
            </a:r>
          </a:p>
          <a:p>
            <a:pPr>
              <a:spcAft>
                <a:spcPts val="600"/>
              </a:spcAft>
              <a:defRPr sz="2000">
                <a:solidFill>
                  <a:srgbClr val="ECF0F1"/>
                </a:solidFill>
              </a:defRPr>
            </a:pPr>
            <a:r>
              <a:t>  Низкий порог входа для пилотного проекта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ADME/Tox Predictor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3498DB"/>
                </a:solidFill>
              </a:defRPr>
            </a:pPr>
            <a:r>
              <a:t>Спасибо за внимание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6576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7F8C8D"/>
                </a:solidFill>
              </a:defRPr>
            </a:pPr>
            <a:r>
              <a:t>MVP готов | Открыты к пилотным проектам | Ищем партнёров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029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7F8C8D"/>
                </a:solidFill>
              </a:defRPr>
            </a:pPr>
            <a:r>
              <a:t>D:\AI\biotech\adme_proto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564</Words>
  <Application>Microsoft Office PowerPoint</Application>
  <PresentationFormat>Широкоэкранный</PresentationFormat>
  <Paragraphs>101</Paragraphs>
  <Slides>10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>Rodion Bykadorov</dc:creator>
  <cp:keywords/>
  <dc:description>generated using python-pptx</dc:description>
  <cp:lastModifiedBy>Rodion Bykadorov</cp:lastModifiedBy>
  <cp:revision>1</cp:revision>
  <dcterms:created xsi:type="dcterms:W3CDTF">2013-01-27T09:14:16Z</dcterms:created>
  <dcterms:modified xsi:type="dcterms:W3CDTF">2026-07-06T08:03:27Z</dcterms:modified>
  <cp:category/>
</cp:coreProperties>
</file>